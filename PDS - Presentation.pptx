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3"/>
  </p:notesMasterIdLst>
  <p:sldIdLst>
    <p:sldId id="256" r:id="rId2"/>
    <p:sldId id="276" r:id="rId3"/>
    <p:sldId id="277" r:id="rId4"/>
    <p:sldId id="278" r:id="rId5"/>
    <p:sldId id="279" r:id="rId6"/>
    <p:sldId id="281" r:id="rId7"/>
    <p:sldId id="282" r:id="rId8"/>
    <p:sldId id="283" r:id="rId9"/>
    <p:sldId id="284" r:id="rId10"/>
    <p:sldId id="285" r:id="rId11"/>
    <p:sldId id="286" r:id="rId12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5B0XiHlm/S06QpS0s6FSMneax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512" y="6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632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96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17108062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904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18292456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711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22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7483466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26167556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36011492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2071841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1_Blank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sldNum" idx="12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848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b="0" u="none"/>
          </a:p>
        </p:txBody>
      </p:sp>
    </p:spTree>
    <p:extLst>
      <p:ext uri="{BB962C8B-B14F-4D97-AF65-F5344CB8AC3E}">
        <p14:creationId xmlns:p14="http://schemas.microsoft.com/office/powerpoint/2010/main" val="319477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sldNum="0" hdr="0" ftr="0" dt="0"/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691092" y="2290209"/>
            <a:ext cx="8676213" cy="102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9525" rIns="0" bIns="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PROJECT PRESENTATION ON </a:t>
            </a:r>
            <a:br>
              <a:rPr lang="en-US" sz="18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DELIVERY TIME</a:t>
            </a:r>
            <a:endParaRPr sz="1950" u="sng" dirty="0">
              <a:solidFill>
                <a:srgbClr val="7030A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467526" y="668882"/>
            <a:ext cx="5123343" cy="141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UNIVERSITY</a:t>
            </a:r>
            <a:endParaRPr sz="3200" dirty="0">
              <a:solidFill>
                <a:srgbClr val="0070C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marL="413384" marR="367030" lvl="0" indent="1005839" algn="l" rtl="0">
              <a:lnSpc>
                <a:spcPct val="100899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Bangalore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</a:p>
          <a:p>
            <a:pPr marL="413384" marR="367030" lvl="0" indent="1005839">
              <a:lnSpc>
                <a:spcPct val="100899"/>
              </a:lnSpc>
              <a:spcBef>
                <a:spcPts val="70"/>
              </a:spcBef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MTech DSAI</a:t>
            </a:r>
            <a:endParaRPr lang="en-US" sz="2400" b="1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22362-AC76-5325-D085-C9F37535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3548"/>
            <a:ext cx="5029200" cy="4458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90B544-DA4F-6C6D-D76C-42E57CF4E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1" y="3313549"/>
            <a:ext cx="5029200" cy="445884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7AF6AF-4E6F-4307-0BE3-45618C13FD9D}"/>
              </a:ext>
            </a:extLst>
          </p:cNvPr>
          <p:cNvSpPr txBox="1">
            <a:spLocks/>
          </p:cNvSpPr>
          <p:nvPr/>
        </p:nvSpPr>
        <p:spPr bwMode="gray">
          <a:xfrm>
            <a:off x="8267728" y="230149"/>
            <a:ext cx="1445125" cy="2979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600" u="sng" dirty="0">
                <a:solidFill>
                  <a:schemeClr val="tx1"/>
                </a:solidFill>
              </a:rPr>
              <a:t>Group-1</a:t>
            </a:r>
          </a:p>
          <a:p>
            <a:pPr>
              <a:lnSpc>
                <a:spcPct val="150000"/>
              </a:lnSpc>
            </a:pPr>
            <a:br>
              <a:rPr lang="en-US" sz="1400" dirty="0">
                <a:solidFill>
                  <a:schemeClr val="tx1"/>
                </a:solidFill>
              </a:rPr>
            </a:br>
            <a:r>
              <a:rPr lang="en-IN" sz="1400" dirty="0">
                <a:solidFill>
                  <a:schemeClr val="tx1"/>
                </a:solidFill>
              </a:rPr>
              <a:t>Abhishek Anand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Esa Hassan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A K Nynesh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Harshith GS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ANJANEYA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</a:rPr>
              <a:t>BHARGAVI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B08A1C-03CE-EF68-AB36-B1388A9D96CE}"/>
              </a:ext>
            </a:extLst>
          </p:cNvPr>
          <p:cNvSpPr/>
          <p:nvPr/>
        </p:nvSpPr>
        <p:spPr>
          <a:xfrm>
            <a:off x="0" y="537411"/>
            <a:ext cx="10058400" cy="6015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D13B0E-4EC4-A465-48EA-72302DFAA834}"/>
              </a:ext>
            </a:extLst>
          </p:cNvPr>
          <p:cNvSpPr txBox="1">
            <a:spLocks/>
          </p:cNvSpPr>
          <p:nvPr/>
        </p:nvSpPr>
        <p:spPr>
          <a:xfrm>
            <a:off x="162592" y="1026694"/>
            <a:ext cx="7168650" cy="64168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rmAutofit/>
          </a:bodyPr>
          <a:lstStyle>
            <a:lvl1pPr marL="457200" lvl="0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000" b="0" i="0" kern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100584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Objectives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Dataset Overview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Missing Values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Histogram Insights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Boxplots by Categories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Scatter Plot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Correlation Heatmap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Summary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51341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53B1-43D2-2A0C-D38B-55299195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6910F5-21E2-47DD-F17E-25FCF6D5A855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091FC71-6C33-E144-CA9A-5384E1E129EA}"/>
              </a:ext>
            </a:extLst>
          </p:cNvPr>
          <p:cNvSpPr txBox="1">
            <a:spLocks/>
          </p:cNvSpPr>
          <p:nvPr/>
        </p:nvSpPr>
        <p:spPr>
          <a:xfrm>
            <a:off x="121569" y="1943767"/>
            <a:ext cx="9815262" cy="4473074"/>
          </a:xfrm>
          <a:prstGeom prst="rect">
            <a:avLst/>
          </a:prstGeom>
        </p:spPr>
        <p:txBody>
          <a:bodyPr/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To analyze food delivery time data in order to identify the key factors       that influence delivery efficiency.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uncover patterns that contribute to faster or delayed deliveries.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This exploratory analysis will help understand operational bottlenecks, assess rider performance, evaluate the effect of environmental and contextual variables.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Provide actionable insights to improve overall delivery speed and reliability.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0119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D46A-B6F1-3CFF-FFB1-AC1887C9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C8BAAD-9F1B-DBA3-21B2-538127DE87F5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F5C0A4-71B5-58E7-CBA1-FA82A9928FDA}"/>
              </a:ext>
            </a:extLst>
          </p:cNvPr>
          <p:cNvSpPr txBox="1">
            <a:spLocks/>
          </p:cNvSpPr>
          <p:nvPr/>
        </p:nvSpPr>
        <p:spPr>
          <a:xfrm>
            <a:off x="0" y="1362326"/>
            <a:ext cx="9737558" cy="6410074"/>
          </a:xfrm>
          <a:prstGeom prst="rect">
            <a:avLst/>
          </a:prstGeom>
        </p:spPr>
        <p:txBody>
          <a:bodyPr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Dataset Loading &amp; Summary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The dataset was imported using: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pd.read_csv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("Food_Delivery_Times.csv")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structural summary of the dataset was generated using df.info(),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number of rows (records)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number of columns (features)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 types of each column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 of non-null values (useful for identifying missing data)</a:t>
            </a:r>
          </a:p>
          <a:p>
            <a:pPr marL="502920" lvl="1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dataset includes key variables related to delivery operations, such as: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numerical (float/int), measuring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kilometres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or miles</a:t>
            </a:r>
          </a:p>
          <a:p>
            <a:pPr lvl="1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preparation_time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numerical, time taken by restaurant to prepare the order</a:t>
            </a:r>
          </a:p>
          <a:p>
            <a:pPr lvl="1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traffic_level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categorical (e.g., Low, Medium, High)</a:t>
            </a:r>
          </a:p>
          <a:p>
            <a:pPr lvl="1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categorical (e.g., Clear, Rainy, Cloudy, Stormy)</a:t>
            </a:r>
          </a:p>
          <a:p>
            <a:pPr lvl="1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rider_profile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categorical or mixed (e.g., experience, rating)</a:t>
            </a:r>
          </a:p>
          <a:p>
            <a:pPr lvl="1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delivery_time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numerical, total time taken to complete delivery</a:t>
            </a:r>
          </a:p>
          <a:p>
            <a:pPr lvl="1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dataset contains a mix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numerical (int/float)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categorical (object)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columns, which helps in performing diverse EDA tasks such as correlation analysis, grouping, and pattern identification.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967B4-2264-D56A-0F7F-62B03002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65" y="1568795"/>
            <a:ext cx="3200847" cy="277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5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0897-9F43-E3C0-2504-AE98FCF2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326FC1-77B2-25BB-DBE6-1450832E72CB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issing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6C140-924D-0C39-895F-03119EB19BFE}"/>
              </a:ext>
            </a:extLst>
          </p:cNvPr>
          <p:cNvSpPr txBox="1"/>
          <p:nvPr/>
        </p:nvSpPr>
        <p:spPr>
          <a:xfrm>
            <a:off x="192505" y="1406150"/>
            <a:ext cx="51334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Checked missing values using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df.isnull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().sum()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  • Identified which columns (numerical &amp; categorical) contained missing entries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  • Helped estimate the extent of data cleaning required.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Missing values detected across multiple features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  • Numerical attributes like distance, Time of day, etc.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  • Categorical attributes like weather, traffic level, rider 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0B8F0F-A3BD-EAE4-E839-C5D16215F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979" y="1543906"/>
            <a:ext cx="4379495" cy="50125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E2A9A3-25F9-DB44-C806-035FB3C01F08}"/>
              </a:ext>
            </a:extLst>
          </p:cNvPr>
          <p:cNvSpPr txBox="1"/>
          <p:nvPr/>
        </p:nvSpPr>
        <p:spPr>
          <a:xfrm>
            <a:off x="192505" y="4139623"/>
            <a:ext cx="50211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Missing Value Strategy Applied</a:t>
            </a:r>
          </a:p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Numerical Columns → Filled using </a:t>
            </a:r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  → More robust than mean when outliers are present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  → Preserves central tendency without skewing data</a:t>
            </a:r>
          </a:p>
          <a:p>
            <a:pPr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Categorical Columns → Filled using </a:t>
            </a:r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  → Ensures logical replacements with the most frequent category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  → Avoids introducing artificial categories</a:t>
            </a:r>
          </a:p>
        </p:txBody>
      </p:sp>
    </p:spTree>
    <p:extLst>
      <p:ext uri="{BB962C8B-B14F-4D97-AF65-F5344CB8AC3E}">
        <p14:creationId xmlns:p14="http://schemas.microsoft.com/office/powerpoint/2010/main" val="248150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B0DE-BD08-C8BB-57BB-3FB67940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3BAF5E-1A0A-D01B-3CE5-43B7FC08BF15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Histogram Insights – Numerical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6D400-75DA-FD70-876D-A85B657C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863" y="1309757"/>
            <a:ext cx="2871537" cy="3165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5A404-DBCC-29DF-418E-944B4A55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6" y="4923149"/>
            <a:ext cx="3517716" cy="2780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2792BB-18A6-06BB-7E51-B3A4229D9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347386"/>
            <a:ext cx="3048000" cy="3128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85E039-E636-8AAA-32A9-8342831D2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928" y="4995588"/>
            <a:ext cx="3268094" cy="2707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00C2C9-6D5C-6BA5-7F2E-FA63B434E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022" y="4939191"/>
            <a:ext cx="3160292" cy="2729747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396BEC1E-196E-578D-5A59-F9CE5877B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7222"/>
            <a:ext cx="455989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skew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some variation toward higher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distribution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right-skewed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a few longer-distance deliveries that extend the 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Preparation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tightly clustered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consistent restaurant prep durations.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outliers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numerical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KDE curves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underlying density patterns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how data is concentrated.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visual patterns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influential variables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guide deeper EDA decisions</a:t>
            </a:r>
          </a:p>
        </p:txBody>
      </p:sp>
    </p:spTree>
    <p:extLst>
      <p:ext uri="{BB962C8B-B14F-4D97-AF65-F5344CB8AC3E}">
        <p14:creationId xmlns:p14="http://schemas.microsoft.com/office/powerpoint/2010/main" val="151316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C4E3-53FE-6245-4A60-F96F97FA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2B2505-113E-D176-076A-E6F64F479944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Boxplots – Traffic Level vs Delivery Time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BC19F-B757-8A38-1663-77DD60ED5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699"/>
            <a:ext cx="9777455" cy="385313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AA6030B-9C85-30A1-6B76-287530517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945" y="5445284"/>
            <a:ext cx="94965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 increases consistently from Low → Medium → High traffic levels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clear upward trend.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traffic conditions show the widest spread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greater variability in delivery durations.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are more prominent under high traffic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unpredictable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 reveal how categorical factors (like traffic level) affect numerical targets (delivery time)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 traffic as a strong influencing variable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predicting delivery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307007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42ED-64EE-C05A-6B98-91FD5074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E3981D-1A5C-0782-377A-CD9B7DD41400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Scatter Plot – Distance vs Delivery Time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C25B1-7ECD-1FE4-8C6B-9AFB59F7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5" y="1391893"/>
            <a:ext cx="9179581" cy="369621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816BCC8-26B4-4F2F-7B89-CEA7B069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92" y="5226346"/>
            <a:ext cx="1013758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correlation is observed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that as one variable increases, the other tends to rise as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 shows a generally linear trend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though with some natural variability.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line clearly highlights the direction and strength of the relationship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reveal unusual delivery scenarios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 extreme delays or atypical distances.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potential logistical bottlenecks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areas for operational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60498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0D52-BC84-A12A-2703-FDC84DE0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DA32EC-A894-B369-1608-6E09E076E54D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Correlation 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32BD7-2D26-2415-3F77-04B8C606A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6" y="1304607"/>
            <a:ext cx="9890652" cy="437429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9743F6D2-1F18-40A6-625D-1842BC78E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2" y="5562907"/>
            <a:ext cx="9915408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Visualizes relationships among all numerical features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reveal underlying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time shows strong correlations with both distance and preparation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they are key drivers of overall delivery duration.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numerical features exhibit weak or minimal correlation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limited direct influence.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the most important variables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supports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feature engineering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improved modeling and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4403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50E8-46A9-08E6-4C9F-2B0620F6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B1550C-6DC2-3C82-726F-E57010A23A14}"/>
              </a:ext>
            </a:extLst>
          </p:cNvPr>
          <p:cNvSpPr/>
          <p:nvPr/>
        </p:nvSpPr>
        <p:spPr>
          <a:xfrm>
            <a:off x="0" y="521370"/>
            <a:ext cx="10058400" cy="705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Summary &amp; 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5231EA-8657-E7F4-7178-E1B2219B0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7425"/>
            <a:ext cx="95290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Delivery time is primarily influenced by three key factors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Distance – longer routes consistently increase delivery duration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Preparation Time – delays at the restaurant directly extend total time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Traffic Level – congestion significantly slows down rider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and rider profile show only minor impact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they play a secondary role in determining delivery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analysis highlights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most influential operational factors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provides a clear foundation for optimizing delivery performance.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DF493B-C947-49C7-E500-EBC3EF2A6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9" y="4847024"/>
            <a:ext cx="1494463" cy="2404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1BC0B-DE4C-64D3-0844-DCCD34C0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91" y="4847025"/>
            <a:ext cx="1670583" cy="22819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266083-103B-A611-8143-74C2FD247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505" y="4847025"/>
            <a:ext cx="1738415" cy="22819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D33A71-6FE1-1432-5AFD-E2D386640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62" y="4847024"/>
            <a:ext cx="1381318" cy="22819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736A6C-8C7E-4497-16F5-ED2A01F9F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920" y="4823814"/>
            <a:ext cx="1819529" cy="23051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A7F479-97C3-D897-E83E-458E51E59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691" y="4823814"/>
            <a:ext cx="1670583" cy="23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1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D7000C-510D-8F35-1862-E63D3FE93EF5}"/>
              </a:ext>
            </a:extLst>
          </p:cNvPr>
          <p:cNvSpPr txBox="1"/>
          <p:nvPr/>
        </p:nvSpPr>
        <p:spPr>
          <a:xfrm>
            <a:off x="2702730" y="2823410"/>
            <a:ext cx="4652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0070C0"/>
                </a:solidFill>
              </a:rPr>
              <a:t>THANK YOU</a:t>
            </a:r>
            <a:endParaRPr lang="en-IN" sz="7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416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852</Words>
  <Application>Microsoft Office PowerPoint</Application>
  <PresentationFormat>Custom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 Light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Bhargavi v</cp:lastModifiedBy>
  <cp:revision>3</cp:revision>
  <dcterms:created xsi:type="dcterms:W3CDTF">2021-07-12T07:10:07Z</dcterms:created>
  <dcterms:modified xsi:type="dcterms:W3CDTF">2025-12-11T16:03:01Z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2021-07-11T00:00:00Z</vt:filetime>
  </property>
  <property fmtid="{D5CDD505-2E9C-101B-9397-08002B2CF9AE}" pid="3" name="LastSaved">
    <vt:filetime>2021-07-12T00:00:00Z</vt:filetime>
  </property>
</Properties>
</file>